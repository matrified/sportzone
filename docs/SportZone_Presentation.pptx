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[HADI] Good day. We are Group 16 and our project is SportZone, a sports equipment and apparel e-commerce website built with HTML, CSS, JavaScript, PHP and MySQL on XAMPP. I'm Hadi and I'll start with the business concept.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[HADI] SportZone is a direct-to-consumer sports store. It removes the limits of a physical shop: it is open 24/7, shows real-time stock, and keeps everything in one place. Customers can browse, search and filter products, save favourites, check out and track their orders, while admins manage the whole catalogue and orders from a dashboard.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[HADI] We looked at the gaps in traditional sports retail — limited stock, fixed hours, and no easy way to compare or check availability. Our target users are students, athletes, gym-goers and clubs who want a convenient way to find and buy gear, read reviews, and track their orders.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[HADI] Our objectives were to build a complete, secure store with role-based logins, full product browsing, a cart, wishlist and checkout, order tracking, admin tools, and a responsive design that works on phone and desktop. I'll now hand over to Mohamed for the technical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[MOHAMED] SportZone uses a classic three-tier architecture. The browser handles presentation with HTML, CSS and vanilla JavaScript; PHP on Apache handles the logic and validation; and MySQL stores the data. Shared PHP includes — header, footer, config, database and helper functions — keep the code consistent and easy to maintain.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[MOHAMED] The stack is HTML, hand-written CSS, vanilla JavaScript, PHP and MySQL on XAMPP. A key constraint was no UI frameworks like Bootstrap or Tailwind — so every bit of CSS is our own, and even the admin sales chart is drawn manually on an HTML5 canvas with JavaScript.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[MOHAMED] The database has ten normalised tables in third normal form, with foreign keys enforcing integrity. One design decision worth noting: order items store the product name and price at purchase time, so past orders stay accurate even if a product later changes or is removed.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[AHMED] On the customer side we have full product browsing — search, filters by category, brand and price, plus sorting and pagination. Each product page has reviews that only verified buyers can leave. Customers get a wishlist, a persistent cart, a multi-step checkout with promo codes, and full order tracking. We'll show all of this in the live demo shortly.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[AHMED] On the admin side there's a dashboard with live stats, a sales chart and low-stock alerts. Admins can create, edit and delete products with image upload, manage orders and update their status, manage users and categories, and read contact messages. Every admin page is protected so only an admin role can reach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[AHMED] A few key design decisions: we wrote custom CSS for full control and to meet the no-framework rule; the layout is mobile-first and responsive; we used a clean black, white and red theme with prices in Ringgit; and we validate forms both on the client for instant feedback and again on the server for safety. Mohamed will cover how we secured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[MOHAMED] Security was built in from the start. Every database query uses prepared statements to stop SQL injection, all output is escaped to prevent cross-site scripting, passwords are hashed with bcrypt, pages are protected by session and role checks, and every form that changes data carries a CSRF token. Now, over to the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PRESENTER] Switch to the browser now. Follow the demo script (see SPEAKER_NOTES.md). Keep it to about 4-5 minutes, narrating each step as you click.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[OSMAN] To summarise contributions: Hadi built authentication and user management; Ahmed built the product catalog pages; I built the cart, checkout and order processing; and Mohamed built the admin panel. Each of us delivered three pages and three features.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[OSMAN] In conclusion, we delivered a complete, secure and responsive e-commerce system that meets all the core requirements plus extras like the wishlist, promo codes and verified reviews. In future we'd add an online payment gateway, email notifications and product recommendations. Thank you for watching — we're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2011680"/>
            <a:ext cx="10698480" cy="2011680"/>
          </a:xfrm>
          <a:prstGeom prst="rect">
            <a:avLst/>
          </a:prstGeom>
          <a:noFill/>
        </p:spPr>
        <p:txBody>
          <a:bodyPr wrap="square">
            <a:spAutoFit/>
          </a:bodyPr>
          <a:lstStyle/>
          <a:p>
            <a:pPr algn="ctr"/>
            <a:r>
              <a:rPr sz="6000" b="1" i="0">
                <a:solidFill>
                  <a:srgbClr val="FFFFFF"/>
                </a:solidFill>
                <a:latin typeface="Calibri"/>
              </a:rPr>
              <a:t>SPORT</a:t>
            </a:r>
            <a:r>
              <a:rPr sz="6000" b="1" i="0">
                <a:solidFill>
                  <a:srgbClr val="E63946"/>
                </a:solidFill>
                <a:latin typeface="Calibri"/>
              </a:rPr>
              <a:t>ZONE</a:t>
            </a:r>
          </a:p>
          <a:p>
            <a:pPr algn="ctr"/>
            <a:r>
              <a:rPr sz="2200" b="0" i="0">
                <a:solidFill>
                  <a:srgbClr val="FFFFFF"/>
                </a:solidFill>
                <a:latin typeface="Calibri"/>
              </a:rPr>
              <a:t>Sports Equipment &amp; Apparel E-Commerce System</a:t>
            </a:r>
          </a:p>
        </p:txBody>
      </p:sp>
      <p:sp>
        <p:nvSpPr>
          <p:cNvPr id="3" name="TextBox 2"/>
          <p:cNvSpPr txBox="1"/>
          <p:nvPr/>
        </p:nvSpPr>
        <p:spPr>
          <a:xfrm>
            <a:off x="731520" y="4297680"/>
            <a:ext cx="10698480" cy="2011680"/>
          </a:xfrm>
          <a:prstGeom prst="rect">
            <a:avLst/>
          </a:prstGeom>
          <a:noFill/>
        </p:spPr>
        <p:txBody>
          <a:bodyPr wrap="square">
            <a:spAutoFit/>
          </a:bodyPr>
          <a:lstStyle/>
          <a:p>
            <a:pPr algn="ctr"/>
            <a:r>
              <a:rPr sz="1800" b="0" i="0">
                <a:solidFill>
                  <a:srgbClr val="CCCCCC"/>
                </a:solidFill>
                <a:latin typeface="Calibri"/>
              </a:rPr>
              <a:t>CIT6224 — Web Application Development   |   Group 16 (TC2L)</a:t>
            </a:r>
          </a:p>
          <a:p>
            <a:pPr algn="ctr"/>
            <a:r>
              <a:rPr sz="1500" b="0" i="0">
                <a:solidFill>
                  <a:srgbClr val="AAAAAA"/>
                </a:solidFill>
                <a:latin typeface="Calibri"/>
              </a:rPr>
              <a:t>Hadi Abdulla (242UC243PP)</a:t>
            </a:r>
          </a:p>
          <a:p>
            <a:pPr algn="ctr"/>
            <a:r>
              <a:rPr sz="1500" b="0" i="0">
                <a:solidFill>
                  <a:srgbClr val="AAAAAA"/>
                </a:solidFill>
                <a:latin typeface="Calibri"/>
              </a:rPr>
              <a:t>Ahmed Mahmoud Mohamed (243UC245XT)</a:t>
            </a:r>
          </a:p>
          <a:p>
            <a:pPr algn="ctr"/>
            <a:r>
              <a:rPr sz="1500" b="0" i="0">
                <a:solidFill>
                  <a:srgbClr val="AAAAAA"/>
                </a:solidFill>
                <a:latin typeface="Calibri"/>
              </a:rPr>
              <a:t>Osman Omer Gumaa (243UC245R0)</a:t>
            </a:r>
          </a:p>
          <a:p>
            <a:pPr algn="ctr"/>
            <a:r>
              <a:rPr sz="1500" b="0" i="0">
                <a:solidFill>
                  <a:srgbClr val="AAAAAA"/>
                </a:solidFill>
                <a:latin typeface="Calibri"/>
              </a:rPr>
              <a:t>Mohamed Tarek (242UC2435F)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Executive Summary</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SportZone is a Business-to-Consumer (B2C) online sports store</a:t>
            </a:r>
          </a:p>
          <a:p>
            <a:pPr>
              <a:spcAft>
                <a:spcPts val="800"/>
              </a:spcAft>
            </a:pPr>
            <a:r>
              <a:rPr sz="2100" b="0" i="0">
                <a:solidFill>
                  <a:srgbClr val="111111"/>
                </a:solidFill>
                <a:latin typeface="Calibri"/>
              </a:rPr>
              <a:t>•  Sells equipment, apparel and fitness gear across five categories</a:t>
            </a:r>
          </a:p>
          <a:p>
            <a:pPr lvl="1">
              <a:spcAft>
                <a:spcPts val="800"/>
              </a:spcAft>
            </a:pPr>
            <a:r>
              <a:rPr sz="1900" b="0" i="0">
                <a:solidFill>
                  <a:srgbClr val="555555"/>
                </a:solidFill>
                <a:latin typeface="Calibri"/>
              </a:rPr>
              <a:t>–  Football, Basketball, Running, Gym, Sportswear</a:t>
            </a:r>
          </a:p>
          <a:p>
            <a:pPr>
              <a:spcAft>
                <a:spcPts val="800"/>
              </a:spcAft>
            </a:pPr>
            <a:r>
              <a:rPr sz="2100" b="0" i="0">
                <a:solidFill>
                  <a:srgbClr val="111111"/>
                </a:solidFill>
                <a:latin typeface="Calibri"/>
              </a:rPr>
              <a:t>•  Customers browse, search, wishlist, add to cart, checkout and track orders</a:t>
            </a:r>
          </a:p>
          <a:p>
            <a:pPr>
              <a:spcAft>
                <a:spcPts val="800"/>
              </a:spcAft>
            </a:pPr>
            <a:r>
              <a:rPr sz="2100" b="0" i="0">
                <a:solidFill>
                  <a:srgbClr val="111111"/>
                </a:solidFill>
                <a:latin typeface="Calibri"/>
              </a:rPr>
              <a:t>•  Admins manage products, orders, users and messages from a dashboard</a:t>
            </a:r>
          </a:p>
          <a:p>
            <a:pPr>
              <a:spcAft>
                <a:spcPts val="800"/>
              </a:spcAft>
            </a:pPr>
            <a:r>
              <a:rPr sz="2100" b="0" i="0">
                <a:solidFill>
                  <a:srgbClr val="111111"/>
                </a:solidFill>
                <a:latin typeface="Calibri"/>
              </a:rPr>
              <a:t>•  Built with HTML, CSS, JavaScript, PHP and MySQL on XAMPP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Problem &amp; Target Users</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Traditional sports retail has real limitations:</a:t>
            </a:r>
          </a:p>
          <a:p>
            <a:pPr lvl="1">
              <a:spcAft>
                <a:spcPts val="800"/>
              </a:spcAft>
            </a:pPr>
            <a:r>
              <a:rPr sz="1900" b="0" i="0">
                <a:solidFill>
                  <a:srgbClr val="555555"/>
                </a:solidFill>
                <a:latin typeface="Calibri"/>
              </a:rPr>
              <a:t>–  Limited stock and shelf space; fixed opening hours</a:t>
            </a:r>
          </a:p>
          <a:p>
            <a:pPr lvl="1">
              <a:spcAft>
                <a:spcPts val="800"/>
              </a:spcAft>
            </a:pPr>
            <a:r>
              <a:rPr sz="1900" b="0" i="0">
                <a:solidFill>
                  <a:srgbClr val="555555"/>
                </a:solidFill>
                <a:latin typeface="Calibri"/>
              </a:rPr>
              <a:t>–  No price transparency or real-time stock visibility</a:t>
            </a:r>
          </a:p>
          <a:p>
            <a:pPr>
              <a:spcAft>
                <a:spcPts val="800"/>
              </a:spcAft>
            </a:pPr>
            <a:r>
              <a:rPr sz="2100" b="0" i="0">
                <a:solidFill>
                  <a:srgbClr val="111111"/>
                </a:solidFill>
                <a:latin typeface="Calibri"/>
              </a:rPr>
              <a:t>•  Target users: students, athletes, gym-goers, casual players, sports clubs</a:t>
            </a:r>
          </a:p>
          <a:p>
            <a:pPr>
              <a:spcAft>
                <a:spcPts val="800"/>
              </a:spcAft>
            </a:pPr>
            <a:r>
              <a:rPr sz="2100" b="0" i="0">
                <a:solidFill>
                  <a:srgbClr val="111111"/>
                </a:solidFill>
                <a:latin typeface="Calibri"/>
              </a:rPr>
              <a:t>•  Their needs: convenience, product info &amp; reviews, quick search, order tracking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Project Objectives</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Build a fully functional B2C e-commerce platform</a:t>
            </a:r>
          </a:p>
          <a:p>
            <a:pPr>
              <a:spcAft>
                <a:spcPts val="800"/>
              </a:spcAft>
            </a:pPr>
            <a:r>
              <a:rPr sz="2100" b="0" i="0">
                <a:solidFill>
                  <a:srgbClr val="111111"/>
                </a:solidFill>
                <a:latin typeface="Calibri"/>
              </a:rPr>
              <a:t>•  Secure registration and role-based authentication (customer / admin)</a:t>
            </a:r>
          </a:p>
          <a:p>
            <a:pPr>
              <a:spcAft>
                <a:spcPts val="800"/>
              </a:spcAft>
            </a:pPr>
            <a:r>
              <a:rPr sz="2100" b="0" i="0">
                <a:solidFill>
                  <a:srgbClr val="111111"/>
                </a:solidFill>
                <a:latin typeface="Calibri"/>
              </a:rPr>
              <a:t>•  Product browsing with search, filtering and sorting</a:t>
            </a:r>
          </a:p>
          <a:p>
            <a:pPr>
              <a:spcAft>
                <a:spcPts val="800"/>
              </a:spcAft>
            </a:pPr>
            <a:r>
              <a:rPr sz="2100" b="0" i="0">
                <a:solidFill>
                  <a:srgbClr val="111111"/>
                </a:solidFill>
                <a:latin typeface="Calibri"/>
              </a:rPr>
              <a:t>•  Shopping cart, wishlist and multi-step checkout with order tracking</a:t>
            </a:r>
          </a:p>
          <a:p>
            <a:pPr>
              <a:spcAft>
                <a:spcPts val="800"/>
              </a:spcAft>
            </a:pPr>
            <a:r>
              <a:rPr sz="2100" b="0" i="0">
                <a:solidFill>
                  <a:srgbClr val="111111"/>
                </a:solidFill>
                <a:latin typeface="Calibri"/>
              </a:rPr>
              <a:t>•  Administrative tools and a fully responsive design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System Architecture</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120640" cy="4572000"/>
          </a:xfrm>
          <a:prstGeom prst="rect">
            <a:avLst/>
          </a:prstGeom>
          <a:noFill/>
        </p:spPr>
        <p:txBody>
          <a:bodyPr wrap="square">
            <a:spAutoFit/>
          </a:bodyPr>
          <a:lstStyle/>
          <a:p>
            <a:pPr>
              <a:spcAft>
                <a:spcPts val="800"/>
              </a:spcAft>
            </a:pPr>
            <a:r>
              <a:rPr sz="1800" b="0" i="0">
                <a:solidFill>
                  <a:srgbClr val="111111"/>
                </a:solidFill>
                <a:latin typeface="Calibri"/>
              </a:rPr>
              <a:t>•  Classic three-tier architecture</a:t>
            </a:r>
          </a:p>
          <a:p>
            <a:pPr>
              <a:spcAft>
                <a:spcPts val="800"/>
              </a:spcAft>
            </a:pPr>
            <a:r>
              <a:rPr sz="1800" b="0" i="0">
                <a:solidFill>
                  <a:srgbClr val="111111"/>
                </a:solidFill>
                <a:latin typeface="Calibri"/>
              </a:rPr>
              <a:t>•  Browser: HTML, CSS, JS</a:t>
            </a:r>
          </a:p>
          <a:p>
            <a:pPr>
              <a:spcAft>
                <a:spcPts val="800"/>
              </a:spcAft>
            </a:pPr>
            <a:r>
              <a:rPr sz="1800" b="0" i="0">
                <a:solidFill>
                  <a:srgbClr val="111111"/>
                </a:solidFill>
                <a:latin typeface="Calibri"/>
              </a:rPr>
              <a:t>•  Server: PHP on Apache</a:t>
            </a:r>
          </a:p>
          <a:p>
            <a:pPr>
              <a:spcAft>
                <a:spcPts val="800"/>
              </a:spcAft>
            </a:pPr>
            <a:r>
              <a:rPr sz="1800" b="0" i="0">
                <a:solidFill>
                  <a:srgbClr val="111111"/>
                </a:solidFill>
                <a:latin typeface="Calibri"/>
              </a:rPr>
              <a:t>•  Data: MySQL database</a:t>
            </a:r>
          </a:p>
          <a:p>
            <a:pPr>
              <a:spcAft>
                <a:spcPts val="800"/>
              </a:spcAft>
            </a:pPr>
            <a:r>
              <a:rPr sz="1800" b="0" i="0">
                <a:solidFill>
                  <a:srgbClr val="111111"/>
                </a:solidFill>
                <a:latin typeface="Calibri"/>
              </a:rPr>
              <a:t>•  Reusable PHP includes keep code DRY</a:t>
            </a:r>
          </a:p>
        </p:txBody>
      </p:sp>
      <p:pic>
        <p:nvPicPr>
          <p:cNvPr id="5" name="Picture 4" descr="architecture.png"/>
          <p:cNvPicPr>
            <a:picLocks noChangeAspect="1"/>
          </p:cNvPicPr>
          <p:nvPr/>
        </p:nvPicPr>
        <p:blipFill>
          <a:blip r:embed="rId2"/>
          <a:stretch>
            <a:fillRect/>
          </a:stretch>
        </p:blipFill>
        <p:spPr>
          <a:xfrm>
            <a:off x="7667335" y="1645920"/>
            <a:ext cx="277045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Technology Stack &amp; Constraints</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Front end: HTML5, custom CSS3, vanilla JavaScript</a:t>
            </a:r>
          </a:p>
          <a:p>
            <a:pPr>
              <a:spcAft>
                <a:spcPts val="800"/>
              </a:spcAft>
            </a:pPr>
            <a:r>
              <a:rPr sz="2100" b="0" i="0">
                <a:solidFill>
                  <a:srgbClr val="111111"/>
                </a:solidFill>
                <a:latin typeface="Calibri"/>
              </a:rPr>
              <a:t>•  Back end: PHP   |   Database: MySQL   |   Server: XAMPP</a:t>
            </a:r>
          </a:p>
          <a:p>
            <a:pPr>
              <a:spcAft>
                <a:spcPts val="800"/>
              </a:spcAft>
            </a:pPr>
            <a:r>
              <a:rPr sz="2100" b="0" i="0">
                <a:solidFill>
                  <a:srgbClr val="111111"/>
                </a:solidFill>
                <a:latin typeface="Calibri"/>
              </a:rPr>
              <a:t>•  Constraint met: NO UI frameworks (no Bootstrap / Tailwind)</a:t>
            </a:r>
          </a:p>
          <a:p>
            <a:pPr lvl="1">
              <a:spcAft>
                <a:spcPts val="800"/>
              </a:spcAft>
            </a:pPr>
            <a:r>
              <a:rPr sz="1900" b="0" i="0">
                <a:solidFill>
                  <a:srgbClr val="555555"/>
                </a:solidFill>
                <a:latin typeface="Calibri"/>
              </a:rPr>
              <a:t>–  All CSS is hand-written; the sales chart is drawn on HTML5 canvas</a:t>
            </a:r>
          </a:p>
          <a:p>
            <a:pPr>
              <a:spcAft>
                <a:spcPts val="800"/>
              </a:spcAft>
            </a:pPr>
            <a:r>
              <a:rPr sz="2100" b="0" i="0">
                <a:solidFill>
                  <a:srgbClr val="111111"/>
                </a:solidFill>
                <a:latin typeface="Calibri"/>
              </a:rPr>
              <a:t>•  Tools: VS Code, phpMyAdmin, Git/GitHub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Database Design</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120640" cy="4572000"/>
          </a:xfrm>
          <a:prstGeom prst="rect">
            <a:avLst/>
          </a:prstGeom>
          <a:noFill/>
        </p:spPr>
        <p:txBody>
          <a:bodyPr wrap="square">
            <a:spAutoFit/>
          </a:bodyPr>
          <a:lstStyle/>
          <a:p>
            <a:pPr>
              <a:spcAft>
                <a:spcPts val="800"/>
              </a:spcAft>
            </a:pPr>
            <a:r>
              <a:rPr sz="1800" b="0" i="0">
                <a:solidFill>
                  <a:srgbClr val="111111"/>
                </a:solidFill>
                <a:latin typeface="Calibri"/>
              </a:rPr>
              <a:t>•  10 normalised tables (3NF)</a:t>
            </a:r>
          </a:p>
          <a:p>
            <a:pPr>
              <a:spcAft>
                <a:spcPts val="800"/>
              </a:spcAft>
            </a:pPr>
            <a:r>
              <a:rPr sz="1800" b="0" i="0">
                <a:solidFill>
                  <a:srgbClr val="111111"/>
                </a:solidFill>
                <a:latin typeface="Calibri"/>
              </a:rPr>
              <a:t>•  Foreign keys + a CHECK on ratings</a:t>
            </a:r>
          </a:p>
          <a:p>
            <a:pPr>
              <a:spcAft>
                <a:spcPts val="800"/>
              </a:spcAft>
            </a:pPr>
            <a:r>
              <a:rPr sz="1800" b="0" i="0">
                <a:solidFill>
                  <a:srgbClr val="111111"/>
                </a:solidFill>
                <a:latin typeface="Calibri"/>
              </a:rPr>
              <a:t>•  Order items keep a price snapshot</a:t>
            </a:r>
          </a:p>
          <a:p>
            <a:pPr>
              <a:spcAft>
                <a:spcPts val="800"/>
              </a:spcAft>
            </a:pPr>
            <a:r>
              <a:rPr sz="1800" b="0" i="0">
                <a:solidFill>
                  <a:srgbClr val="111111"/>
                </a:solidFill>
                <a:latin typeface="Calibri"/>
              </a:rPr>
              <a:t>•  Users, products, orders, reviews,</a:t>
            </a:r>
          </a:p>
          <a:p>
            <a:pPr>
              <a:spcAft>
                <a:spcPts val="800"/>
              </a:spcAft>
            </a:pPr>
            <a:r>
              <a:rPr sz="1800" b="0" i="0">
                <a:solidFill>
                  <a:srgbClr val="111111"/>
                </a:solidFill>
                <a:latin typeface="Calibri"/>
              </a:rPr>
              <a:t>•  cart, wishlist, promo codes, messages</a:t>
            </a:r>
          </a:p>
        </p:txBody>
      </p:sp>
      <p:pic>
        <p:nvPicPr>
          <p:cNvPr id="5" name="Picture 4" descr="erd.png"/>
          <p:cNvPicPr>
            <a:picLocks noChangeAspect="1"/>
          </p:cNvPicPr>
          <p:nvPr/>
        </p:nvPicPr>
        <p:blipFill>
          <a:blip r:embed="rId2"/>
          <a:stretch>
            <a:fillRect/>
          </a:stretch>
        </p:blipFill>
        <p:spPr>
          <a:xfrm>
            <a:off x="6126480" y="2652611"/>
            <a:ext cx="5852160" cy="255861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Customer Features</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Search, category / brand / price filters, sorting and pagination</a:t>
            </a:r>
          </a:p>
          <a:p>
            <a:pPr>
              <a:spcAft>
                <a:spcPts val="800"/>
              </a:spcAft>
            </a:pPr>
            <a:r>
              <a:rPr sz="2100" b="0" i="0">
                <a:solidFill>
                  <a:srgbClr val="111111"/>
                </a:solidFill>
                <a:latin typeface="Calibri"/>
              </a:rPr>
              <a:t>•  Product details with verified-purchase reviews and star ratings</a:t>
            </a:r>
          </a:p>
          <a:p>
            <a:pPr>
              <a:spcAft>
                <a:spcPts val="800"/>
              </a:spcAft>
            </a:pPr>
            <a:r>
              <a:rPr sz="2100" b="0" i="0">
                <a:solidFill>
                  <a:srgbClr val="111111"/>
                </a:solidFill>
                <a:latin typeface="Calibri"/>
              </a:rPr>
              <a:t>•  Wishlist with an AJAX heart toggle</a:t>
            </a:r>
          </a:p>
          <a:p>
            <a:pPr>
              <a:spcAft>
                <a:spcPts val="800"/>
              </a:spcAft>
            </a:pPr>
            <a:r>
              <a:rPr sz="2100" b="0" i="0">
                <a:solidFill>
                  <a:srgbClr val="111111"/>
                </a:solidFill>
                <a:latin typeface="Calibri"/>
              </a:rPr>
              <a:t>•  Persistent shopping cart</a:t>
            </a:r>
          </a:p>
          <a:p>
            <a:pPr>
              <a:spcAft>
                <a:spcPts val="800"/>
              </a:spcAft>
            </a:pPr>
            <a:r>
              <a:rPr sz="2100" b="0" i="0">
                <a:solidFill>
                  <a:srgbClr val="111111"/>
                </a:solidFill>
                <a:latin typeface="Calibri"/>
              </a:rPr>
              <a:t>•  Multi-step checkout with promo codes</a:t>
            </a:r>
          </a:p>
          <a:p>
            <a:pPr>
              <a:spcAft>
                <a:spcPts val="800"/>
              </a:spcAft>
            </a:pPr>
            <a:r>
              <a:rPr sz="2100" b="0" i="0">
                <a:solidFill>
                  <a:srgbClr val="111111"/>
                </a:solidFill>
                <a:latin typeface="Calibri"/>
              </a:rPr>
              <a:t>•  Order history, tracking and cancellation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Admin Features</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Dashboard: live statistics + a sales chart + low-stock alerts</a:t>
            </a:r>
          </a:p>
          <a:p>
            <a:pPr>
              <a:spcAft>
                <a:spcPts val="800"/>
              </a:spcAft>
            </a:pPr>
            <a:r>
              <a:rPr sz="2100" b="0" i="0">
                <a:solidFill>
                  <a:srgbClr val="111111"/>
                </a:solidFill>
                <a:latin typeface="Calibri"/>
              </a:rPr>
              <a:t>•  Product management — full CRUD with image upload</a:t>
            </a:r>
          </a:p>
          <a:p>
            <a:pPr>
              <a:spcAft>
                <a:spcPts val="800"/>
              </a:spcAft>
            </a:pPr>
            <a:r>
              <a:rPr sz="2100" b="0" i="0">
                <a:solidFill>
                  <a:srgbClr val="111111"/>
                </a:solidFill>
                <a:latin typeface="Calibri"/>
              </a:rPr>
              <a:t>•  Order management — update status (Pending → Delivered)</a:t>
            </a:r>
          </a:p>
          <a:p>
            <a:pPr>
              <a:spcAft>
                <a:spcPts val="800"/>
              </a:spcAft>
            </a:pPr>
            <a:r>
              <a:rPr sz="2100" b="0" i="0">
                <a:solidFill>
                  <a:srgbClr val="111111"/>
                </a:solidFill>
                <a:latin typeface="Calibri"/>
              </a:rPr>
              <a:t>•  User management and category management</a:t>
            </a:r>
          </a:p>
          <a:p>
            <a:pPr>
              <a:spcAft>
                <a:spcPts val="800"/>
              </a:spcAft>
            </a:pPr>
            <a:r>
              <a:rPr sz="2100" b="0" i="0">
                <a:solidFill>
                  <a:srgbClr val="111111"/>
                </a:solidFill>
                <a:latin typeface="Calibri"/>
              </a:rPr>
              <a:t>•  Contact messages inbox</a:t>
            </a:r>
          </a:p>
          <a:p>
            <a:pPr>
              <a:spcAft>
                <a:spcPts val="800"/>
              </a:spcAft>
            </a:pPr>
            <a:r>
              <a:rPr sz="2100" b="0" i="0">
                <a:solidFill>
                  <a:srgbClr val="111111"/>
                </a:solidFill>
                <a:latin typeface="Calibri"/>
              </a:rPr>
              <a:t>•  All admin pages are role-protected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Design Decisions</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Custom CSS — full control and meets the no-framework rule</a:t>
            </a:r>
          </a:p>
          <a:p>
            <a:pPr>
              <a:spcAft>
                <a:spcPts val="800"/>
              </a:spcAft>
            </a:pPr>
            <a:r>
              <a:rPr sz="2100" b="0" i="0">
                <a:solidFill>
                  <a:srgbClr val="111111"/>
                </a:solidFill>
                <a:latin typeface="Calibri"/>
              </a:rPr>
              <a:t>•  Mobile-first responsive layout (hamburger nav, fluid grids)</a:t>
            </a:r>
          </a:p>
          <a:p>
            <a:pPr>
              <a:spcAft>
                <a:spcPts val="800"/>
              </a:spcAft>
            </a:pPr>
            <a:r>
              <a:rPr sz="2100" b="0" i="0">
                <a:solidFill>
                  <a:srgbClr val="111111"/>
                </a:solidFill>
                <a:latin typeface="Calibri"/>
              </a:rPr>
              <a:t>•  Clean black / white / red brand theme; prices in RM</a:t>
            </a:r>
          </a:p>
          <a:p>
            <a:pPr>
              <a:spcAft>
                <a:spcPts val="800"/>
              </a:spcAft>
            </a:pPr>
            <a:r>
              <a:rPr sz="2100" b="0" i="0">
                <a:solidFill>
                  <a:srgbClr val="111111"/>
                </a:solidFill>
                <a:latin typeface="Calibri"/>
              </a:rPr>
              <a:t>•  Real-time client-side validation + server-side validation</a:t>
            </a:r>
          </a:p>
          <a:p>
            <a:pPr>
              <a:spcAft>
                <a:spcPts val="800"/>
              </a:spcAft>
            </a:pPr>
            <a:r>
              <a:rPr sz="2100" b="0" i="0">
                <a:solidFill>
                  <a:srgbClr val="111111"/>
                </a:solidFill>
                <a:latin typeface="Calibri"/>
              </a:rPr>
              <a:t>•  Reusable includes and a single money() helper for currency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Security</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SQL injection — prepared statements on every query</a:t>
            </a:r>
          </a:p>
          <a:p>
            <a:pPr>
              <a:spcAft>
                <a:spcPts val="800"/>
              </a:spcAft>
            </a:pPr>
            <a:r>
              <a:rPr sz="2100" b="0" i="0">
                <a:solidFill>
                  <a:srgbClr val="111111"/>
                </a:solidFill>
                <a:latin typeface="Calibri"/>
              </a:rPr>
              <a:t>•  XSS — all output escaped with htmlspecialchars</a:t>
            </a:r>
          </a:p>
          <a:p>
            <a:pPr>
              <a:spcAft>
                <a:spcPts val="800"/>
              </a:spcAft>
            </a:pPr>
            <a:r>
              <a:rPr sz="2100" b="0" i="0">
                <a:solidFill>
                  <a:srgbClr val="111111"/>
                </a:solidFill>
                <a:latin typeface="Calibri"/>
              </a:rPr>
              <a:t>•  Passwords hashed with bcrypt (password_hash)</a:t>
            </a:r>
          </a:p>
          <a:p>
            <a:pPr>
              <a:spcAft>
                <a:spcPts val="800"/>
              </a:spcAft>
            </a:pPr>
            <a:r>
              <a:rPr sz="2100" b="0" i="0">
                <a:solidFill>
                  <a:srgbClr val="111111"/>
                </a:solidFill>
                <a:latin typeface="Calibri"/>
              </a:rPr>
              <a:t>•  Sessions + role checks protect every restricted page</a:t>
            </a:r>
          </a:p>
          <a:p>
            <a:pPr>
              <a:spcAft>
                <a:spcPts val="800"/>
              </a:spcAft>
            </a:pPr>
            <a:r>
              <a:rPr sz="2100" b="0" i="0">
                <a:solidFill>
                  <a:srgbClr val="111111"/>
                </a:solidFill>
                <a:latin typeface="Calibri"/>
              </a:rPr>
              <a:t>•  CSRF tokens on all state-changing forms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B2D42"/>
        </a:solidFill>
        <a:effectLst/>
      </p:bgPr>
    </p:bg>
    <p:spTree>
      <p:nvGrpSpPr>
        <p:cNvPr id="1" name=""/>
        <p:cNvGrpSpPr/>
        <p:nvPr/>
      </p:nvGrpSpPr>
      <p:grpSpPr/>
      <p:sp>
        <p:nvSpPr>
          <p:cNvPr id="2" name="TextBox 1"/>
          <p:cNvSpPr txBox="1"/>
          <p:nvPr/>
        </p:nvSpPr>
        <p:spPr>
          <a:xfrm>
            <a:off x="731520" y="2560320"/>
            <a:ext cx="10698480" cy="1828800"/>
          </a:xfrm>
          <a:prstGeom prst="rect">
            <a:avLst/>
          </a:prstGeom>
          <a:noFill/>
        </p:spPr>
        <p:txBody>
          <a:bodyPr wrap="square">
            <a:spAutoFit/>
          </a:bodyPr>
          <a:lstStyle/>
          <a:p>
            <a:pPr algn="ctr"/>
            <a:r>
              <a:rPr sz="4400" b="1" i="0">
                <a:solidFill>
                  <a:srgbClr val="FFFFFF"/>
                </a:solidFill>
                <a:latin typeface="Calibri"/>
              </a:rPr>
              <a:t>Live Demonstration</a:t>
            </a:r>
          </a:p>
          <a:p>
            <a:pPr algn="ctr"/>
            <a:r>
              <a:rPr sz="2000" b="1" i="0">
                <a:solidFill>
                  <a:srgbClr val="E63946"/>
                </a:solidFill>
                <a:latin typeface="Calibri"/>
              </a:rPr>
              <a:t>A walkthrough of the SportZone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Team Contributions</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Hadi Abdulla — Authentication &amp; user management (login, register, profile)</a:t>
            </a:r>
          </a:p>
          <a:p>
            <a:pPr>
              <a:spcAft>
                <a:spcPts val="800"/>
              </a:spcAft>
            </a:pPr>
            <a:r>
              <a:rPr sz="2100" b="0" i="0">
                <a:solidFill>
                  <a:srgbClr val="111111"/>
                </a:solidFill>
                <a:latin typeface="Calibri"/>
              </a:rPr>
              <a:t>•  Ahmed Mahmoud Mohamed — Product catalog (home, listing, product details)</a:t>
            </a:r>
          </a:p>
          <a:p>
            <a:pPr>
              <a:spcAft>
                <a:spcPts val="800"/>
              </a:spcAft>
            </a:pPr>
            <a:r>
              <a:rPr sz="2100" b="0" i="0">
                <a:solidFill>
                  <a:srgbClr val="111111"/>
                </a:solidFill>
                <a:latin typeface="Calibri"/>
              </a:rPr>
              <a:t>•  Osman Omer Gumaa — Cart, checkout and order processing</a:t>
            </a:r>
          </a:p>
          <a:p>
            <a:pPr>
              <a:spcAft>
                <a:spcPts val="800"/>
              </a:spcAft>
            </a:pPr>
            <a:r>
              <a:rPr sz="2100" b="0" i="0">
                <a:solidFill>
                  <a:srgbClr val="111111"/>
                </a:solidFill>
                <a:latin typeface="Calibri"/>
              </a:rPr>
              <a:t>•  Mohamed Tarek — Admin dashboard, product &amp; order management</a:t>
            </a:r>
          </a:p>
          <a:p>
            <a:pPr>
              <a:spcAft>
                <a:spcPts val="800"/>
              </a:spcAft>
            </a:pPr>
            <a:r>
              <a:rPr sz="2100" b="0" i="0">
                <a:solidFill>
                  <a:srgbClr val="111111"/>
                </a:solidFill>
                <a:latin typeface="Calibri"/>
              </a:rPr>
              <a:t>•  Each member built 3 pages and 3 features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72800" cy="914400"/>
          </a:xfrm>
          <a:prstGeom prst="rect">
            <a:avLst/>
          </a:prstGeom>
          <a:noFill/>
        </p:spPr>
        <p:txBody>
          <a:bodyPr wrap="square">
            <a:spAutoFit/>
          </a:bodyPr>
          <a:lstStyle/>
          <a:p>
            <a:r>
              <a:rPr sz="3200" b="1" i="0">
                <a:solidFill>
                  <a:srgbClr val="2B2D42"/>
                </a:solidFill>
                <a:latin typeface="Calibri"/>
              </a:rPr>
              <a:t>Conclusion &amp; Future Work</a:t>
            </a:r>
          </a:p>
        </p:txBody>
      </p:sp>
      <p:sp>
        <p:nvSpPr>
          <p:cNvPr id="3" name="Rectangle 2"/>
          <p:cNvSpPr/>
          <p:nvPr/>
        </p:nvSpPr>
        <p:spPr>
          <a:xfrm>
            <a:off x="640080" y="1188720"/>
            <a:ext cx="2011680" cy="635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4846320"/>
          </a:xfrm>
          <a:prstGeom prst="rect">
            <a:avLst/>
          </a:prstGeom>
          <a:noFill/>
        </p:spPr>
        <p:txBody>
          <a:bodyPr wrap="square">
            <a:spAutoFit/>
          </a:bodyPr>
          <a:lstStyle/>
          <a:p>
            <a:pPr>
              <a:spcAft>
                <a:spcPts val="800"/>
              </a:spcAft>
            </a:pPr>
            <a:r>
              <a:rPr sz="2100" b="0" i="0">
                <a:solidFill>
                  <a:srgbClr val="111111"/>
                </a:solidFill>
                <a:latin typeface="Calibri"/>
              </a:rPr>
              <a:t>•  Delivered a complete, secure, responsive B2C e-commerce system</a:t>
            </a:r>
          </a:p>
          <a:p>
            <a:pPr>
              <a:spcAft>
                <a:spcPts val="800"/>
              </a:spcAft>
            </a:pPr>
            <a:r>
              <a:rPr sz="2100" b="0" i="0">
                <a:solidFill>
                  <a:srgbClr val="111111"/>
                </a:solidFill>
                <a:latin typeface="Calibri"/>
              </a:rPr>
              <a:t>•  Met all core requirements + extra features (wishlist, promo codes, reviews)</a:t>
            </a:r>
          </a:p>
          <a:p>
            <a:pPr>
              <a:spcAft>
                <a:spcPts val="800"/>
              </a:spcAft>
            </a:pPr>
            <a:r>
              <a:rPr sz="2100" b="0" i="0">
                <a:solidFill>
                  <a:srgbClr val="111111"/>
                </a:solidFill>
                <a:latin typeface="Calibri"/>
              </a:rPr>
              <a:t>•  Future: online payment gateway, email notifications,</a:t>
            </a:r>
          </a:p>
          <a:p>
            <a:pPr lvl="1">
              <a:spcAft>
                <a:spcPts val="800"/>
              </a:spcAft>
            </a:pPr>
            <a:r>
              <a:rPr sz="1900" b="0" i="0">
                <a:solidFill>
                  <a:srgbClr val="555555"/>
                </a:solidFill>
                <a:latin typeface="Calibri"/>
              </a:rPr>
              <a:t>–  product recommendations, sales reports with export</a:t>
            </a:r>
          </a:p>
          <a:p>
            <a:pPr>
              <a:spcAft>
                <a:spcPts val="800"/>
              </a:spcAft>
            </a:pPr>
            <a:r>
              <a:rPr sz="2100" b="0" i="0">
                <a:solidFill>
                  <a:srgbClr val="111111"/>
                </a:solidFill>
                <a:latin typeface="Calibri"/>
              </a:rPr>
              <a:t>•  Thank you —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